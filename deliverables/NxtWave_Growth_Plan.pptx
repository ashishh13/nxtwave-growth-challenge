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01000" y="0"/>
            <a:ext cx="4187952" cy="6858000"/>
          </a:xfrm>
          <a:prstGeom prst="rect">
            <a:avLst/>
          </a:prstGeom>
          <a:solidFill>
            <a:srgbClr val="316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49640" y="914400"/>
            <a:ext cx="2834640" cy="1143000"/>
          </a:xfrm>
          <a:prstGeom prst="roundRect">
            <a:avLst>
              <a:gd name="adj" fmla="val 12000"/>
            </a:avLst>
          </a:prstGeom>
          <a:solidFill>
            <a:srgbClr val="35B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59952" y="1161288"/>
            <a:ext cx="246888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Aptos"/>
              </a:defRPr>
            </a:pPr>
            <a:r>
              <a:t>500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2520" y="1700784"/>
            <a:ext cx="25146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REGISTRATION TARGET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880360"/>
            <a:ext cx="297180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2971800"/>
            <a:ext cx="123444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000" b="1">
                <a:solidFill>
                  <a:srgbClr val="3165E6"/>
                </a:solidFill>
                <a:latin typeface="Aptos"/>
              </a:defRPr>
            </a:pPr>
            <a:r>
              <a:t>7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2999232"/>
            <a:ext cx="13716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0">
                <a:solidFill>
                  <a:srgbClr val="202D41"/>
                </a:solidFill>
                <a:latin typeface="Aptos"/>
              </a:defRPr>
            </a:pPr>
            <a:r>
              <a:t>to learn fast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3794760"/>
            <a:ext cx="297180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3886200"/>
            <a:ext cx="123444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000" b="1">
                <a:solidFill>
                  <a:srgbClr val="3165E6"/>
                </a:solidFill>
                <a:latin typeface="Aptos"/>
              </a:defRPr>
            </a:pPr>
            <a:r>
              <a:t>₹2,000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3913632"/>
            <a:ext cx="13716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0">
                <a:solidFill>
                  <a:srgbClr val="202D41"/>
                </a:solidFill>
                <a:latin typeface="Aptos"/>
              </a:defRPr>
            </a:pPr>
            <a:r>
              <a:t>maximum budget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4709160"/>
            <a:ext cx="297180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4800600"/>
            <a:ext cx="123444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000" b="1">
                <a:solidFill>
                  <a:srgbClr val="3165E6"/>
                </a:solidFill>
                <a:latin typeface="Aptos"/>
              </a:defRPr>
            </a:pPr>
            <a:r>
              <a:t>1 asset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4828032"/>
            <a:ext cx="13716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0">
                <a:solidFill>
                  <a:srgbClr val="202D41"/>
                </a:solidFill>
                <a:latin typeface="Aptos"/>
              </a:defRPr>
            </a:pPr>
            <a:r>
              <a:t>live prototype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56032"/>
            <a:ext cx="685800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C0CFE6"/>
                </a:solidFill>
                <a:latin typeface="Aptos"/>
              </a:defRPr>
            </a:pPr>
            <a:r>
              <a:t>NXTWAVE  /  GROWTH CHALLENGE     •     THE GROWTH THESIS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256032"/>
            <a:ext cx="59436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1000" b="1">
                <a:solidFill>
                  <a:srgbClr val="C0CFE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143000"/>
            <a:ext cx="6858000" cy="1325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500 registrations.</a:t>
            </a:r>
            <a:br/>
            <a:r>
              <a:t>Seven days. ₹2,000.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788920"/>
            <a:ext cx="6629400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900" b="0">
                <a:solidFill>
                  <a:srgbClr val="CFDCF0"/>
                </a:solidFill>
                <a:latin typeface="Aptos"/>
              </a:defRPr>
            </a:pPr>
            <a:r>
              <a:t>A focused campus-led plan for “Build Your First AI Project in 60 Minutes.”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886200"/>
            <a:ext cx="109728" cy="1097280"/>
          </a:xfrm>
          <a:prstGeom prst="rect">
            <a:avLst/>
          </a:prstGeom>
          <a:solidFill>
            <a:srgbClr val="35B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886200"/>
            <a:ext cx="6309360" cy="10972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Core bet: make the workshop easy to share through trusted campus networks, then shift effort toward channels that show real traction.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172200"/>
            <a:ext cx="67665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0">
                <a:solidFill>
                  <a:srgbClr val="CBD8EA"/>
                </a:solidFill>
                <a:latin typeface="Aptos"/>
              </a:defRPr>
            </a:pPr>
            <a:r>
              <a:t>Planning proposal • Campaign not executed • Forecasts are assumptions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85800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5F6F84"/>
                </a:solidFill>
                <a:latin typeface="Aptos"/>
              </a:defRPr>
            </a:pPr>
            <a:r>
              <a:t>NXTWAVE  /  GROWTH CHALLENGE     •     AUDIENCE &amp; MESSAGE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56032"/>
            <a:ext cx="59436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1000" b="1">
                <a:solidFill>
                  <a:srgbClr val="5F6F8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900" b="1">
                <a:solidFill>
                  <a:srgbClr val="101E36"/>
                </a:solidFill>
                <a:latin typeface="Aptos"/>
              </a:defRPr>
            </a:pPr>
            <a:r>
              <a:t>Sell the outcome—not “another webinar.”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07592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0">
                <a:solidFill>
                  <a:srgbClr val="5F6F84"/>
                </a:solidFill>
                <a:latin typeface="Aptos"/>
              </a:defRPr>
            </a:pPr>
            <a:r>
              <a:t>Audience hypothesis to validate during outreach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365760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3165E6"/>
                </a:solidFill>
                <a:latin typeface="Aptos"/>
              </a:defRPr>
            </a:pPr>
            <a:r>
              <a:t>WHO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3063240" cy="7772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300" b="1">
                <a:solidFill>
                  <a:srgbClr val="101E36"/>
                </a:solidFill>
                <a:latin typeface="Aptos"/>
              </a:defRPr>
            </a:pPr>
            <a:r>
              <a:t>Final-year engineering students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3017520" cy="1554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02D41"/>
                </a:solidFill>
                <a:latin typeface="Aptos"/>
              </a:defRPr>
            </a:pPr>
            <a:r>
              <a:t>•  Want practical AI experience</a:t>
            </a:r>
          </a:p>
          <a:p>
            <a:pPr>
              <a:spcAft>
                <a:spcPts val="1000"/>
              </a:spcAft>
              <a:defRPr sz="1500">
                <a:solidFill>
                  <a:srgbClr val="202D41"/>
                </a:solidFill>
                <a:latin typeface="Aptos"/>
              </a:defRPr>
            </a:pPr>
            <a:r>
              <a:t>•  Have limited time and attention</a:t>
            </a:r>
          </a:p>
          <a:p>
            <a:pPr>
              <a:spcAft>
                <a:spcPts val="1000"/>
              </a:spcAft>
              <a:defRPr sz="1500">
                <a:solidFill>
                  <a:srgbClr val="202D41"/>
                </a:solidFill>
                <a:latin typeface="Aptos"/>
              </a:defRPr>
            </a:pPr>
            <a:r>
              <a:t>•  Need a concrete first step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920240"/>
            <a:ext cx="3154680" cy="3474720"/>
          </a:xfrm>
          <a:prstGeom prst="roundRect">
            <a:avLst>
              <a:gd name="adj" fmla="val 12000"/>
            </a:avLst>
          </a:prstGeom>
          <a:solidFill>
            <a:srgbClr val="E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194560"/>
            <a:ext cx="25603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3165E6"/>
                </a:solidFill>
                <a:latin typeface="Aptos"/>
              </a:defRPr>
            </a:pPr>
            <a:r>
              <a:t>VALUE PROMISE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651760"/>
            <a:ext cx="2606040" cy="10972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200" b="1">
                <a:solidFill>
                  <a:srgbClr val="101E36"/>
                </a:solidFill>
                <a:latin typeface="Aptos"/>
              </a:defRPr>
            </a:pPr>
            <a:r>
              <a:t>Build your first AI project in 60 minutes.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4160520"/>
            <a:ext cx="2560320" cy="8229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400" b="0">
                <a:solidFill>
                  <a:srgbClr val="202D41"/>
                </a:solidFill>
                <a:latin typeface="Aptos"/>
              </a:defRPr>
            </a:pPr>
            <a:r>
              <a:t>Free • Beginner-friendly • A tangible starting point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1920240"/>
            <a:ext cx="361188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2194560"/>
            <a:ext cx="292608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269970"/>
                </a:solidFill>
                <a:latin typeface="Aptos"/>
              </a:defRPr>
            </a:pPr>
            <a:r>
              <a:t>REGISTRATION TRIGGERS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697480"/>
            <a:ext cx="2834640" cy="2194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02D41"/>
                </a:solidFill>
                <a:latin typeface="Aptos"/>
              </a:defRPr>
            </a:pPr>
            <a:r>
              <a:t>•  Clear take-away</a:t>
            </a:r>
          </a:p>
          <a:p>
            <a:pPr>
              <a:spcAft>
                <a:spcPts val="1000"/>
              </a:spcAft>
              <a:defRPr sz="1500">
                <a:solidFill>
                  <a:srgbClr val="202D41"/>
                </a:solidFill>
                <a:latin typeface="Aptos"/>
              </a:defRPr>
            </a:pPr>
            <a:r>
              <a:t>•  Trusted peer recommendation</a:t>
            </a:r>
          </a:p>
          <a:p>
            <a:pPr>
              <a:spcAft>
                <a:spcPts val="1000"/>
              </a:spcAft>
              <a:defRPr sz="1500">
                <a:solidFill>
                  <a:srgbClr val="202D41"/>
                </a:solidFill>
                <a:latin typeface="Aptos"/>
              </a:defRPr>
            </a:pPr>
            <a:r>
              <a:t>•  Low time and money commitment</a:t>
            </a:r>
          </a:p>
          <a:p>
            <a:pPr>
              <a:spcAft>
                <a:spcPts val="1000"/>
              </a:spcAft>
              <a:defRPr sz="1500">
                <a:solidFill>
                  <a:srgbClr val="202D41"/>
                </a:solidFill>
                <a:latin typeface="Aptos"/>
              </a:defRPr>
            </a:pPr>
            <a:r>
              <a:t>•  One-click registration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06440"/>
            <a:ext cx="1069848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3165E6"/>
                </a:solidFill>
                <a:latin typeface="Aptos"/>
              </a:defRPr>
            </a:pPr>
            <a:r>
              <a:t>Message test: “In one hour, go from curious about AI to building your first project.”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85800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5F6F84"/>
                </a:solidFill>
                <a:latin typeface="Aptos"/>
              </a:defRPr>
            </a:pPr>
            <a:r>
              <a:t>NXTWAVE  /  GROWTH CHALLENGE     •     CHANNEL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56032"/>
            <a:ext cx="59436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1000" b="1">
                <a:solidFill>
                  <a:srgbClr val="5F6F8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900" b="1">
                <a:solidFill>
                  <a:srgbClr val="101E36"/>
                </a:solidFill>
                <a:latin typeface="Aptos"/>
              </a:defRPr>
            </a:pPr>
            <a:r>
              <a:t>Two channels. One clear job for each.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07592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0">
                <a:solidFill>
                  <a:srgbClr val="5F6F84"/>
                </a:solidFill>
                <a:latin typeface="Aptos"/>
              </a:defRPr>
            </a:pPr>
            <a:r>
              <a:t>A planning model—not historical conversion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5212080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74519"/>
            <a:ext cx="5212080" cy="146304"/>
          </a:xfrm>
          <a:prstGeom prst="rect">
            <a:avLst/>
          </a:prstGeom>
          <a:solidFill>
            <a:srgbClr val="316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44805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1">
                <a:solidFill>
                  <a:srgbClr val="3165E6"/>
                </a:solidFill>
                <a:latin typeface="Aptos"/>
              </a:defRPr>
            </a:pPr>
            <a:r>
              <a:t>01  CAMPUS AMBASSADORS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97480"/>
            <a:ext cx="438912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700" b="1">
                <a:solidFill>
                  <a:srgbClr val="101E36"/>
                </a:solidFill>
                <a:latin typeface="Aptos"/>
              </a:defRPr>
            </a:pPr>
            <a:r>
              <a:t>25 × 12 = 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37560"/>
            <a:ext cx="4434840" cy="10515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0">
                <a:solidFill>
                  <a:srgbClr val="202D41"/>
                </a:solidFill>
                <a:latin typeface="Aptos"/>
              </a:defRPr>
            </a:pPr>
            <a:r>
              <a:t>Recruit student connectors across campuses. Give each a unique referral code, a short message, and a simple daily target.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617720"/>
            <a:ext cx="44805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5F6F84"/>
                </a:solidFill>
                <a:latin typeface="Aptos"/>
              </a:defRPr>
            </a:pPr>
            <a:r>
              <a:t>Role: trusted peer-to-peer distribution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5212080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874519"/>
            <a:ext cx="5212080" cy="146304"/>
          </a:xfrm>
          <a:prstGeom prst="rect">
            <a:avLst/>
          </a:prstGeom>
          <a:solidFill>
            <a:srgbClr val="35B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194560"/>
            <a:ext cx="44805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1">
                <a:solidFill>
                  <a:srgbClr val="148F94"/>
                </a:solidFill>
                <a:latin typeface="Aptos"/>
              </a:defRPr>
            </a:pPr>
            <a:r>
              <a:t>02  COLLEGE COMMUNITIES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97480"/>
            <a:ext cx="438912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700" b="1">
                <a:solidFill>
                  <a:srgbClr val="101E36"/>
                </a:solidFill>
                <a:latin typeface="Aptos"/>
              </a:defRPr>
            </a:pPr>
            <a:r>
              <a:t>20 × 10 = 200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337560"/>
            <a:ext cx="4434840" cy="10515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0">
                <a:solidFill>
                  <a:srgbClr val="202D41"/>
                </a:solidFill>
                <a:latin typeface="Aptos"/>
              </a:defRPr>
            </a:pPr>
            <a:r>
              <a:t>Share useful, non-spammy posts in relevant class groups and student communities; use a direct registration link and source tracking.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617720"/>
            <a:ext cx="44805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5F6F84"/>
                </a:solidFill>
                <a:latin typeface="Aptos"/>
              </a:defRPr>
            </a:pPr>
            <a:r>
              <a:t>Role: extend reach beyond ambassador networks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486400"/>
            <a:ext cx="10744200" cy="502920"/>
          </a:xfrm>
          <a:prstGeom prst="roundRect">
            <a:avLst>
              <a:gd name="adj" fmla="val 12000"/>
            </a:avLst>
          </a:prstGeom>
          <a:solidFill>
            <a:srgbClr val="1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577840"/>
            <a:ext cx="102870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300 + 200 = 500 target registrations  |  Track unique sign-ups by source; avoid double-counting.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85800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5F6F84"/>
                </a:solidFill>
                <a:latin typeface="Aptos"/>
              </a:defRPr>
            </a:pPr>
            <a:r>
              <a:t>NXTWAVE  /  GROWTH CHALLENGE     •     EXECUTION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56032"/>
            <a:ext cx="59436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1000" b="1">
                <a:solidFill>
                  <a:srgbClr val="5F6F8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900" b="1">
                <a:solidFill>
                  <a:srgbClr val="101E36"/>
                </a:solidFill>
                <a:latin typeface="Aptos"/>
              </a:defRPr>
            </a:pPr>
            <a:r>
              <a:t>Run a seven-day learning loop.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07592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0">
                <a:solidFill>
                  <a:srgbClr val="5F6F84"/>
                </a:solidFill>
                <a:latin typeface="Aptos"/>
              </a:defRPr>
            </a:pPr>
            <a:r>
              <a:t>Daily checkpoints create a decision rhythm—not a promise of results.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6634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3165E6"/>
                </a:solidFill>
                <a:latin typeface="Aptos"/>
              </a:defRPr>
            </a:pPr>
            <a:r>
              <a:t>CUMULATIVE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67712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5F6F84"/>
                </a:solidFill>
                <a:latin typeface="Aptos"/>
              </a:defRPr>
            </a:pPr>
            <a:r>
              <a:t>D1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2281428"/>
            <a:ext cx="3063240" cy="182880"/>
          </a:xfrm>
          <a:prstGeom prst="roundRect">
            <a:avLst>
              <a:gd name="adj" fmla="val 12000"/>
            </a:avLst>
          </a:prstGeom>
          <a:solidFill>
            <a:srgbClr val="E2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34440" y="2281428"/>
            <a:ext cx="153162" cy="182880"/>
          </a:xfrm>
          <a:prstGeom prst="roundRect">
            <a:avLst>
              <a:gd name="adj" fmla="val 12000"/>
            </a:avLst>
          </a:prstGeom>
          <a:solidFill>
            <a:srgbClr val="316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7408" y="2240280"/>
            <a:ext cx="59436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101E36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5F6F84"/>
                </a:solidFill>
                <a:latin typeface="Aptos"/>
              </a:defRPr>
            </a:pPr>
            <a:r>
              <a:t>D2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34440" y="2711196"/>
            <a:ext cx="3063240" cy="182880"/>
          </a:xfrm>
          <a:prstGeom prst="roundRect">
            <a:avLst>
              <a:gd name="adj" fmla="val 12000"/>
            </a:avLst>
          </a:prstGeom>
          <a:solidFill>
            <a:srgbClr val="E2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234440" y="2711196"/>
            <a:ext cx="459485" cy="182880"/>
          </a:xfrm>
          <a:prstGeom prst="roundRect">
            <a:avLst>
              <a:gd name="adj" fmla="val 12000"/>
            </a:avLst>
          </a:prstGeom>
          <a:solidFill>
            <a:srgbClr val="316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2670048"/>
            <a:ext cx="59436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101E36"/>
                </a:solidFill>
                <a:latin typeface="Aptos"/>
              </a:defRPr>
            </a:pPr>
            <a:r>
              <a:t>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127248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5F6F84"/>
                </a:solidFill>
                <a:latin typeface="Aptos"/>
              </a:defRPr>
            </a:pPr>
            <a:r>
              <a:t>D3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3140964"/>
            <a:ext cx="3063240" cy="182880"/>
          </a:xfrm>
          <a:prstGeom prst="roundRect">
            <a:avLst>
              <a:gd name="adj" fmla="val 12000"/>
            </a:avLst>
          </a:prstGeom>
          <a:solidFill>
            <a:srgbClr val="E2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234440" y="3140964"/>
            <a:ext cx="918971" cy="182880"/>
          </a:xfrm>
          <a:prstGeom prst="roundRect">
            <a:avLst>
              <a:gd name="adj" fmla="val 12000"/>
            </a:avLst>
          </a:prstGeom>
          <a:solidFill>
            <a:srgbClr val="316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8" y="3099816"/>
            <a:ext cx="59436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101E36"/>
                </a:solidFill>
                <a:latin typeface="Aptos"/>
              </a:defRPr>
            </a:pPr>
            <a:r>
              <a:t>150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557015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5F6F84"/>
                </a:solidFill>
                <a:latin typeface="Aptos"/>
              </a:defRPr>
            </a:pPr>
            <a:r>
              <a:t>D4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34440" y="3570732"/>
            <a:ext cx="3063240" cy="182880"/>
          </a:xfrm>
          <a:prstGeom prst="roundRect">
            <a:avLst>
              <a:gd name="adj" fmla="val 12000"/>
            </a:avLst>
          </a:prstGeom>
          <a:solidFill>
            <a:srgbClr val="E2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234440" y="3570732"/>
            <a:ext cx="1470355" cy="182880"/>
          </a:xfrm>
          <a:prstGeom prst="roundRect">
            <a:avLst>
              <a:gd name="adj" fmla="val 12000"/>
            </a:avLst>
          </a:prstGeom>
          <a:solidFill>
            <a:srgbClr val="316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07408" y="3529584"/>
            <a:ext cx="59436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101E36"/>
                </a:solidFill>
                <a:latin typeface="Aptos"/>
              </a:defRPr>
            </a:pPr>
            <a:r>
              <a:t>240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986783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5F6F84"/>
                </a:solidFill>
                <a:latin typeface="Aptos"/>
              </a:defRPr>
            </a:pPr>
            <a:r>
              <a:t>D5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" y="4000499"/>
            <a:ext cx="3063240" cy="182880"/>
          </a:xfrm>
          <a:prstGeom prst="roundRect">
            <a:avLst>
              <a:gd name="adj" fmla="val 12000"/>
            </a:avLst>
          </a:prstGeom>
          <a:solidFill>
            <a:srgbClr val="E2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234440" y="4000499"/>
            <a:ext cx="2083003" cy="182880"/>
          </a:xfrm>
          <a:prstGeom prst="roundRect">
            <a:avLst>
              <a:gd name="adj" fmla="val 12000"/>
            </a:avLst>
          </a:prstGeom>
          <a:solidFill>
            <a:srgbClr val="316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07408" y="3959351"/>
            <a:ext cx="59436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101E36"/>
                </a:solidFill>
                <a:latin typeface="Aptos"/>
              </a:defRPr>
            </a:pPr>
            <a:r>
              <a:t>340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416552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5F6F84"/>
                </a:solidFill>
                <a:latin typeface="Aptos"/>
              </a:defRPr>
            </a:pPr>
            <a:r>
              <a:t>D6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34440" y="4430268"/>
            <a:ext cx="3063240" cy="182880"/>
          </a:xfrm>
          <a:prstGeom prst="roundRect">
            <a:avLst>
              <a:gd name="adj" fmla="val 12000"/>
            </a:avLst>
          </a:prstGeom>
          <a:solidFill>
            <a:srgbClr val="E2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234440" y="4430268"/>
            <a:ext cx="2695651" cy="182880"/>
          </a:xfrm>
          <a:prstGeom prst="roundRect">
            <a:avLst>
              <a:gd name="adj" fmla="val 12000"/>
            </a:avLst>
          </a:prstGeom>
          <a:solidFill>
            <a:srgbClr val="316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07408" y="4389120"/>
            <a:ext cx="59436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101E36"/>
                </a:solidFill>
                <a:latin typeface="Aptos"/>
              </a:defRPr>
            </a:pPr>
            <a:r>
              <a:t>440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846320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5F6F84"/>
                </a:solidFill>
                <a:latin typeface="Aptos"/>
              </a:defRPr>
            </a:pPr>
            <a:r>
              <a:t>D7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34440" y="4860036"/>
            <a:ext cx="3063240" cy="182880"/>
          </a:xfrm>
          <a:prstGeom prst="roundRect">
            <a:avLst>
              <a:gd name="adj" fmla="val 12000"/>
            </a:avLst>
          </a:prstGeom>
          <a:solidFill>
            <a:srgbClr val="E2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234440" y="4860036"/>
            <a:ext cx="3063240" cy="182880"/>
          </a:xfrm>
          <a:prstGeom prst="roundRect">
            <a:avLst>
              <a:gd name="adj" fmla="val 12000"/>
            </a:avLst>
          </a:prstGeom>
          <a:solidFill>
            <a:srgbClr val="35B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07408" y="4818888"/>
            <a:ext cx="59436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101E36"/>
                </a:solidFill>
                <a:latin typeface="Aptos"/>
              </a:defRPr>
            </a:pPr>
            <a:r>
              <a:t>500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0" y="1828800"/>
            <a:ext cx="589788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06440" y="2103120"/>
            <a:ext cx="51206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1">
                <a:solidFill>
                  <a:srgbClr val="269970"/>
                </a:solidFill>
                <a:latin typeface="Aptos"/>
              </a:defRPr>
            </a:pPr>
            <a:r>
              <a:t>DAILY OPERATING RULE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6440" y="2560320"/>
            <a:ext cx="5029200" cy="1325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02D41"/>
                </a:solidFill>
                <a:latin typeface="Aptos"/>
              </a:defRPr>
            </a:pPr>
            <a:r>
              <a:t>•  Compare actual unique registrations with the checkpoint.</a:t>
            </a:r>
          </a:p>
          <a:p>
            <a:pPr>
              <a:spcAft>
                <a:spcPts val="600"/>
              </a:spcAft>
              <a:defRPr sz="1400">
                <a:solidFill>
                  <a:srgbClr val="202D41"/>
                </a:solidFill>
                <a:latin typeface="Aptos"/>
              </a:defRPr>
            </a:pPr>
            <a:r>
              <a:t>•  Find which source/campus is working; shift effort there.</a:t>
            </a:r>
          </a:p>
          <a:p>
            <a:pPr>
              <a:spcAft>
                <a:spcPts val="600"/>
              </a:spcAft>
              <a:defRPr sz="1400">
                <a:solidFill>
                  <a:srgbClr val="202D41"/>
                </a:solidFill>
                <a:latin typeface="Aptos"/>
              </a:defRPr>
            </a:pPr>
            <a:r>
              <a:t>•  Follow up respectfully; don’t increase spam.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0" y="4434840"/>
            <a:ext cx="5897880" cy="1325880"/>
          </a:xfrm>
          <a:prstGeom prst="roundRect">
            <a:avLst>
              <a:gd name="adj" fmla="val 12000"/>
            </a:avLst>
          </a:prstGeom>
          <a:solidFill>
            <a:srgbClr val="E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06440" y="4645152"/>
            <a:ext cx="51206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1">
                <a:solidFill>
                  <a:srgbClr val="3165E6"/>
                </a:solidFill>
                <a:latin typeface="Aptos"/>
              </a:defRPr>
            </a:pPr>
            <a:r>
              <a:t>₹2,000 PROPOSED BUDGET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6440" y="5074920"/>
            <a:ext cx="123444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600" b="1">
                <a:solidFill>
                  <a:srgbClr val="101E36"/>
                </a:solidFill>
                <a:latin typeface="Aptos"/>
              </a:defRPr>
            </a:pPr>
            <a:r>
              <a:t>₹600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06440" y="5394960"/>
            <a:ext cx="12344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900" b="0">
                <a:solidFill>
                  <a:srgbClr val="5F6F84"/>
                </a:solidFill>
                <a:latin typeface="Aptos"/>
              </a:defRPr>
            </a:pPr>
            <a:r>
              <a:t>Coordination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04888" y="5074920"/>
            <a:ext cx="123444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600" b="1">
                <a:solidFill>
                  <a:srgbClr val="101E36"/>
                </a:solidFill>
                <a:latin typeface="Aptos"/>
              </a:defRPr>
            </a:pPr>
            <a:r>
              <a:t>₹500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04888" y="5394960"/>
            <a:ext cx="12344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900" b="0">
                <a:solidFill>
                  <a:srgbClr val="5F6F84"/>
                </a:solidFill>
                <a:latin typeface="Aptos"/>
              </a:defRPr>
            </a:pPr>
            <a:r>
              <a:t>Materials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03336" y="5074920"/>
            <a:ext cx="123444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600" b="1">
                <a:solidFill>
                  <a:srgbClr val="101E36"/>
                </a:solidFill>
                <a:latin typeface="Aptos"/>
              </a:defRPr>
            </a:pPr>
            <a:r>
              <a:t>₹600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03336" y="5394960"/>
            <a:ext cx="12344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900" b="0">
                <a:solidFill>
                  <a:srgbClr val="5F6F84"/>
                </a:solidFill>
                <a:latin typeface="Aptos"/>
              </a:defRPr>
            </a:pPr>
            <a:r>
              <a:t>Channel support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01784" y="5074920"/>
            <a:ext cx="123444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600" b="1">
                <a:solidFill>
                  <a:srgbClr val="101E36"/>
                </a:solidFill>
                <a:latin typeface="Aptos"/>
              </a:defRPr>
            </a:pPr>
            <a:r>
              <a:t>₹300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01784" y="5394960"/>
            <a:ext cx="12344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900" b="0">
                <a:solidFill>
                  <a:srgbClr val="5F6F84"/>
                </a:solidFill>
                <a:latin typeface="Aptos"/>
              </a:defRPr>
            </a:pPr>
            <a:r>
              <a:t>Contingency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5715000"/>
            <a:ext cx="438912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0">
                <a:solidFill>
                  <a:srgbClr val="5F6F84"/>
                </a:solidFill>
                <a:latin typeface="Aptos"/>
              </a:defRPr>
            </a:pPr>
            <a:r>
              <a:t>Budget spend is conditional; start with free distribution.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85800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C0CFE6"/>
                </a:solidFill>
                <a:latin typeface="Aptos"/>
              </a:defRPr>
            </a:pPr>
            <a:r>
              <a:t>NXTWAVE  /  GROWTH CHALLENGE     •     MEASUREMENT &amp;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56032"/>
            <a:ext cx="59436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1000" b="1">
                <a:solidFill>
                  <a:srgbClr val="C0CFE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"/>
              </a:defRPr>
            </a:pPr>
            <a:r>
              <a:t>Measure what matters. Adapt honestly.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07592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0">
                <a:solidFill>
                  <a:srgbClr val="CBD8EA"/>
                </a:solidFill>
                <a:latin typeface="Aptos"/>
              </a:defRPr>
            </a:pPr>
            <a:r>
              <a:t>The prototype makes attribution and iteration observable.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3474720" cy="2057400"/>
          </a:xfrm>
          <a:prstGeom prst="roundRect">
            <a:avLst>
              <a:gd name="adj" fmla="val 12000"/>
            </a:avLst>
          </a:prstGeom>
          <a:solidFill>
            <a:srgbClr val="1E3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35BFC4"/>
                </a:solidFill>
                <a:latin typeface="Aptos"/>
              </a:defRPr>
            </a:pPr>
            <a:r>
              <a:t>NORTH STAR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297180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500 unique registrations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297180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0">
                <a:solidFill>
                  <a:srgbClr val="D3DEEF"/>
                </a:solidFill>
                <a:latin typeface="Aptos"/>
              </a:defRPr>
            </a:pPr>
            <a:r>
              <a:t>Track progress toward target; deduplicate by email.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057400"/>
            <a:ext cx="3474720" cy="2057400"/>
          </a:xfrm>
          <a:prstGeom prst="roundRect">
            <a:avLst>
              <a:gd name="adj" fmla="val 12000"/>
            </a:avLst>
          </a:prstGeom>
          <a:solidFill>
            <a:srgbClr val="1E3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35BFC4"/>
                </a:solidFill>
                <a:latin typeface="Aptos"/>
              </a:defRPr>
            </a:pPr>
            <a:r>
              <a:t>LEADING SIGNALS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697480"/>
            <a:ext cx="297180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Source + ambassador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429000"/>
            <a:ext cx="297180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0">
                <a:solidFill>
                  <a:srgbClr val="D3DEEF"/>
                </a:solidFill>
                <a:latin typeface="Aptos"/>
              </a:defRPr>
            </a:pPr>
            <a:r>
              <a:t>Find the channels contributing real registrations, not just views.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2057400"/>
            <a:ext cx="3474720" cy="2057400"/>
          </a:xfrm>
          <a:prstGeom prst="roundRect">
            <a:avLst>
              <a:gd name="adj" fmla="val 12000"/>
            </a:avLst>
          </a:prstGeom>
          <a:solidFill>
            <a:srgbClr val="1E3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28600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35BFC4"/>
                </a:solidFill>
                <a:latin typeface="Aptos"/>
              </a:defRPr>
            </a:pPr>
            <a: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697480"/>
            <a:ext cx="297180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Consent, relevance, privacy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429000"/>
            <a:ext cx="297180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0">
                <a:solidFill>
                  <a:srgbClr val="D3DEEF"/>
                </a:solidFill>
                <a:latin typeface="Aptos"/>
              </a:defRPr>
            </a:pPr>
            <a:r>
              <a:t>No purchased lists, false claims, or repeated unwanted messages.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526280"/>
            <a:ext cx="6766560" cy="1097280"/>
          </a:xfrm>
          <a:prstGeom prst="roundRect">
            <a:avLst>
              <a:gd name="adj" fmla="val 12000"/>
            </a:avLst>
          </a:prstGeom>
          <a:solidFill>
            <a:srgbClr val="316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709160"/>
            <a:ext cx="62636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WORKING ASSET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074920"/>
            <a:ext cx="62636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Live Streamlit prototype: registration + referral tracking + analytics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79" y="4526280"/>
            <a:ext cx="3749039" cy="1097280"/>
          </a:xfrm>
          <a:prstGeom prst="roundRect">
            <a:avLst>
              <a:gd name="adj" fmla="val 12000"/>
            </a:avLst>
          </a:prstGeom>
          <a:solidFill>
            <a:srgbClr val="1E3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0" y="4709160"/>
            <a:ext cx="32004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35BFC4"/>
                </a:solidFill>
                <a:latin typeface="Aptos"/>
              </a:defRPr>
            </a:pPr>
            <a:r>
              <a:t>WHAT REMAINS UNTESTED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5056632"/>
            <a:ext cx="320040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0">
                <a:solidFill>
                  <a:srgbClr val="FFFFFF"/>
                </a:solidFill>
                <a:latin typeface="Aptos"/>
              </a:defRPr>
            </a:pPr>
            <a:r>
              <a:t>Actual reach, conversion, and channel costs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080760"/>
            <a:ext cx="107899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0">
                <a:solidFill>
                  <a:srgbClr val="CBD8EA"/>
                </a:solidFill>
                <a:latin typeface="Aptos"/>
              </a:defRPr>
            </a:pPr>
            <a:r>
              <a:t>Next: pilot with a small campus cohort, inspect source-level results, then reallocate the remaining budget.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